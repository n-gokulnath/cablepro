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  <p:embeddedFont>
      <p:font typeface="Outfit Extra Bold" panose="020B0604020202020204" charset="0"/>
      <p:regular r:id="rId14"/>
    </p:embeddedFont>
  </p:embeddedFontLst>
  <p:defaultTextStyle>
    <a:defPPr>
      <a:defRPr lang="en-A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971"/>
    <a:srgbClr val="5E4CE6"/>
    <a:srgbClr val="A6A2C7"/>
    <a:srgbClr val="EEEEF3"/>
    <a:srgbClr val="EE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31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A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709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CablePro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0446"/>
            <a:ext cx="64589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Cable TV Management System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4775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Progressive Web App for Cable TV Operators in India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956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Next.js 14 · React 18 · Firebase · TypeScript · Tailwind CSS v4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B2DC27-FBEF-F6CA-794C-87E91D932F20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F51E0-4900-33A0-4764-B1DD7AB76F69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906" y="661154"/>
            <a:ext cx="5218033" cy="65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Abstract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68906" y="1774150"/>
            <a:ext cx="4251484" cy="3205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CablePro is a purpose-built, web-based Cable TV Management System designed specifically for local cable TV operators in India. The cable television industry serves millions of households across the country, and with rapid government-mandated digitization, operators face increasing complexity in managing subscriber data, payment collections, and regulatory compliance.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8906" y="5152072"/>
            <a:ext cx="4251484" cy="2243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modern, mobile-first Progressive Web App (PWA) replaces manual registers and spreadsheets with centralized subscriber management, automatic outstanding calculations, real-time payment analytics, and secure cloud backup to Google Drive — accessible from any device, anywhere.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37121" y="2442448"/>
            <a:ext cx="104299" cy="104299"/>
          </a:xfrm>
          <a:prstGeom prst="roundRect">
            <a:avLst>
              <a:gd name="adj" fmla="val 43835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6" name="Text 4"/>
          <p:cNvSpPr/>
          <p:nvPr/>
        </p:nvSpPr>
        <p:spPr>
          <a:xfrm>
            <a:off x="5833467" y="2331601"/>
            <a:ext cx="260901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Cable Operators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833467" y="2849642"/>
            <a:ext cx="8035647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37121" y="3665101"/>
            <a:ext cx="104299" cy="104299"/>
          </a:xfrm>
          <a:prstGeom prst="roundRect">
            <a:avLst>
              <a:gd name="adj" fmla="val 43835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9" name="Text 7"/>
          <p:cNvSpPr/>
          <p:nvPr/>
        </p:nvSpPr>
        <p:spPr>
          <a:xfrm>
            <a:off x="5833467" y="3554254"/>
            <a:ext cx="260901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PWA / Web App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5833467" y="4072295"/>
            <a:ext cx="8035647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37121" y="4887754"/>
            <a:ext cx="104299" cy="104299"/>
          </a:xfrm>
          <a:prstGeom prst="roundRect">
            <a:avLst>
              <a:gd name="adj" fmla="val 43835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2" name="Text 10"/>
          <p:cNvSpPr/>
          <p:nvPr/>
        </p:nvSpPr>
        <p:spPr>
          <a:xfrm>
            <a:off x="5833467" y="4776907"/>
            <a:ext cx="260901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localStorage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5833467" y="5294948"/>
            <a:ext cx="8035647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Primary Storage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37121" y="6110407"/>
            <a:ext cx="104299" cy="104299"/>
          </a:xfrm>
          <a:prstGeom prst="roundRect">
            <a:avLst>
              <a:gd name="adj" fmla="val 438355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5" name="Text 13"/>
          <p:cNvSpPr/>
          <p:nvPr/>
        </p:nvSpPr>
        <p:spPr>
          <a:xfrm>
            <a:off x="5833467" y="5999559"/>
            <a:ext cx="260901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Firebase Auth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5833467" y="6517600"/>
            <a:ext cx="8035647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6CFC38-6EBD-536E-A021-1A24EBDB8718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451FDE-0D8C-9243-4168-7288888B9C2A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689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Introduction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461855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What is CablePro?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93790" y="3019663"/>
            <a:ext cx="130428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CablePro is a centralized, web-based platform enabling cable TV operators to manage all aspects of their business — from adding subscribers to tracking monthly payments and generating financial reports.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3790" y="3705344"/>
            <a:ext cx="6448782" cy="1532334"/>
          </a:xfrm>
          <a:prstGeom prst="roundRect">
            <a:avLst>
              <a:gd name="adj" fmla="val 49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6" name="Text 4"/>
          <p:cNvSpPr/>
          <p:nvPr/>
        </p:nvSpPr>
        <p:spPr>
          <a:xfrm>
            <a:off x="982861" y="389441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Mobile-First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2861" y="4264938"/>
            <a:ext cx="6070640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Built as a Progressive Web App (PWA), it works seamlessly on smartphones, tablets, and desktops, giving operators real-time access in the field. Designed for field use on smartphones.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87709" y="3705344"/>
            <a:ext cx="6448901" cy="1532334"/>
          </a:xfrm>
          <a:prstGeom prst="roundRect">
            <a:avLst>
              <a:gd name="adj" fmla="val 49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9" name="Text 7"/>
          <p:cNvSpPr/>
          <p:nvPr/>
        </p:nvSpPr>
        <p:spPr>
          <a:xfrm>
            <a:off x="7576780" y="389441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Cloud Backup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76780" y="4264938"/>
            <a:ext cx="607075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Google Drive integration for data safety and secure cloud backup and recovery.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3790" y="5382816"/>
            <a:ext cx="6448782" cy="1009888"/>
          </a:xfrm>
          <a:prstGeom prst="roundRect">
            <a:avLst>
              <a:gd name="adj" fmla="val 754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2" name="Text 10"/>
          <p:cNvSpPr/>
          <p:nvPr/>
        </p:nvSpPr>
        <p:spPr>
          <a:xfrm>
            <a:off x="982861" y="557188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Secure Auth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2861" y="5942409"/>
            <a:ext cx="607064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Firebase Authentication with Google OAuth sign-in for secure access.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87709" y="5382816"/>
            <a:ext cx="6448901" cy="1009888"/>
          </a:xfrm>
          <a:prstGeom prst="roundRect">
            <a:avLst>
              <a:gd name="adj" fmla="val 754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5" name="Text 13"/>
          <p:cNvSpPr/>
          <p:nvPr/>
        </p:nvSpPr>
        <p:spPr>
          <a:xfrm>
            <a:off x="7576780" y="557188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Real-Time Analytics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76780" y="5942409"/>
            <a:ext cx="60707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Dashboard KPIs and visual charts for instant business insights.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D37A2A-D9B0-86B4-E27E-1089E6DDECBB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6B65DF-2A09-C727-55AF-43C99753A0A9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2703"/>
            <a:ext cx="6203513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Objectives of the Project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55458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091095"/>
            <a:ext cx="6419017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5" name="Text 3"/>
          <p:cNvSpPr/>
          <p:nvPr/>
        </p:nvSpPr>
        <p:spPr>
          <a:xfrm>
            <a:off x="793790" y="2259687"/>
            <a:ext cx="459497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Centralized Subscriber Management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93790" y="2719030"/>
            <a:ext cx="641901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Single platform for complete customer information including STB number, plan details, and subscription status tracking.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17475" y="1755458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17475" y="2091095"/>
            <a:ext cx="6419136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9" name="Text 7"/>
          <p:cNvSpPr/>
          <p:nvPr/>
        </p:nvSpPr>
        <p:spPr>
          <a:xfrm>
            <a:off x="7417475" y="2259687"/>
            <a:ext cx="454437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Automated Outstanding Calculation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17475" y="2719030"/>
            <a:ext cx="641913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Auto-calculate dues per subscriber based on plan type and payment history, eliminating manual errors.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93790" y="3757493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3790" y="4093131"/>
            <a:ext cx="6419017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3" name="Text 11"/>
          <p:cNvSpPr/>
          <p:nvPr/>
        </p:nvSpPr>
        <p:spPr>
          <a:xfrm>
            <a:off x="793790" y="4261723"/>
            <a:ext cx="371903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Payment Tracking &amp; Analytics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790" y="4721066"/>
            <a:ext cx="641901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Record cash and UPI transactions with real-time visual charts showing collection trends and payment methods.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17475" y="3757493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17475" y="4093131"/>
            <a:ext cx="6419136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7" name="Text 15"/>
          <p:cNvSpPr/>
          <p:nvPr/>
        </p:nvSpPr>
        <p:spPr>
          <a:xfrm>
            <a:off x="7417475" y="426172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Financial Reporting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17475" y="4721066"/>
            <a:ext cx="641913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 PDF and CSV reports for daily, weekly, and monthly collections with custom date ranges.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93790" y="5759529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93790" y="6095167"/>
            <a:ext cx="6419017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21" name="Text 19"/>
          <p:cNvSpPr/>
          <p:nvPr/>
        </p:nvSpPr>
        <p:spPr>
          <a:xfrm>
            <a:off x="793790" y="626375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Mobile-First Design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93790" y="6723102"/>
            <a:ext cx="641901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Flawless mobile experience optimized for field payment collection on smartphones and tablets.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17475" y="5759529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417475" y="6095167"/>
            <a:ext cx="6419136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25" name="Text 23"/>
          <p:cNvSpPr/>
          <p:nvPr/>
        </p:nvSpPr>
        <p:spPr>
          <a:xfrm>
            <a:off x="7417475" y="626375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Cloud Data Backup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417475" y="6723102"/>
            <a:ext cx="641913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Google Drive backup with configurable auto-frequency for data protection and disaster recovery.</a:t>
            </a:r>
            <a:endParaRPr lang="en-US" sz="16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D5D11D-F9DD-FB80-22CB-4BAE72D7E7B6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AFB033-A52B-254E-5894-2741C15C5D03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641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Scope of the Project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935837"/>
            <a:ext cx="6448782" cy="1550908"/>
          </a:xfrm>
          <a:prstGeom prst="roundRect">
            <a:avLst>
              <a:gd name="adj" fmla="val 7075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4" name="Shape 2"/>
          <p:cNvSpPr/>
          <p:nvPr/>
        </p:nvSpPr>
        <p:spPr>
          <a:xfrm>
            <a:off x="793790" y="1912977"/>
            <a:ext cx="6448782" cy="91440"/>
          </a:xfrm>
          <a:prstGeom prst="roundRect">
            <a:avLst>
              <a:gd name="adj" fmla="val 8334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5" name="Shape 3"/>
          <p:cNvSpPr/>
          <p:nvPr/>
        </p:nvSpPr>
        <p:spPr>
          <a:xfrm>
            <a:off x="3745944" y="1663660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6" name="Text 4"/>
          <p:cNvSpPr/>
          <p:nvPr/>
        </p:nvSpPr>
        <p:spPr>
          <a:xfrm>
            <a:off x="3909298" y="1799749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8101" y="238946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User Authentication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98101" y="2759988"/>
            <a:ext cx="604016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Email/Password login, Google OAuth integration, profile management, and 7-day grace period for account deletion.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87709" y="1935837"/>
            <a:ext cx="6448901" cy="1550908"/>
          </a:xfrm>
          <a:prstGeom prst="roundRect">
            <a:avLst>
              <a:gd name="adj" fmla="val 7075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0" name="Shape 8"/>
          <p:cNvSpPr/>
          <p:nvPr/>
        </p:nvSpPr>
        <p:spPr>
          <a:xfrm>
            <a:off x="7387709" y="1912977"/>
            <a:ext cx="6448901" cy="91440"/>
          </a:xfrm>
          <a:prstGeom prst="roundRect">
            <a:avLst>
              <a:gd name="adj" fmla="val 8334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1" name="Shape 9"/>
          <p:cNvSpPr/>
          <p:nvPr/>
        </p:nvSpPr>
        <p:spPr>
          <a:xfrm>
            <a:off x="10339983" y="1663660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2" name="Text 10"/>
          <p:cNvSpPr/>
          <p:nvPr/>
        </p:nvSpPr>
        <p:spPr>
          <a:xfrm>
            <a:off x="10503337" y="1799749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92020" y="2389465"/>
            <a:ext cx="249031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 Management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2020" y="2759988"/>
            <a:ext cx="604027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lifecycle management: add, edit, soft-delete customers with STB tracking, plan duration (1/3/6/12 months), and status filters.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3790" y="3904059"/>
            <a:ext cx="6448782" cy="1550908"/>
          </a:xfrm>
          <a:prstGeom prst="roundRect">
            <a:avLst>
              <a:gd name="adj" fmla="val 7075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6" name="Shape 14"/>
          <p:cNvSpPr/>
          <p:nvPr/>
        </p:nvSpPr>
        <p:spPr>
          <a:xfrm>
            <a:off x="793790" y="3881199"/>
            <a:ext cx="6448782" cy="91440"/>
          </a:xfrm>
          <a:prstGeom prst="roundRect">
            <a:avLst>
              <a:gd name="adj" fmla="val 8334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7" name="Shape 15"/>
          <p:cNvSpPr/>
          <p:nvPr/>
        </p:nvSpPr>
        <p:spPr>
          <a:xfrm>
            <a:off x="3745944" y="3631883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8" name="Text 16"/>
          <p:cNvSpPr/>
          <p:nvPr/>
        </p:nvSpPr>
        <p:spPr>
          <a:xfrm>
            <a:off x="3909298" y="3767971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98101" y="4357688"/>
            <a:ext cx="239756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Payment Management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98101" y="4728210"/>
            <a:ext cx="604016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Record cash and UPI transactions, track today/weekly/monthly totals, and prevent duplicate billing cycles automatically.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87709" y="3904059"/>
            <a:ext cx="6448901" cy="1550908"/>
          </a:xfrm>
          <a:prstGeom prst="roundRect">
            <a:avLst>
              <a:gd name="adj" fmla="val 7075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22" name="Shape 20"/>
          <p:cNvSpPr/>
          <p:nvPr/>
        </p:nvSpPr>
        <p:spPr>
          <a:xfrm>
            <a:off x="7387709" y="3881199"/>
            <a:ext cx="6448901" cy="91440"/>
          </a:xfrm>
          <a:prstGeom prst="roundRect">
            <a:avLst>
              <a:gd name="adj" fmla="val 8334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23" name="Shape 21"/>
          <p:cNvSpPr/>
          <p:nvPr/>
        </p:nvSpPr>
        <p:spPr>
          <a:xfrm>
            <a:off x="10339983" y="3631883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24" name="Text 22"/>
          <p:cNvSpPr/>
          <p:nvPr/>
        </p:nvSpPr>
        <p:spPr>
          <a:xfrm>
            <a:off x="10503337" y="3767971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92020" y="435768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Financial Reporting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592020" y="4728210"/>
            <a:ext cx="604027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 reports for month or custom date ranges, analyze collection trends, and export to CSV and PDF formats.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3790" y="5872282"/>
            <a:ext cx="6448782" cy="1550908"/>
          </a:xfrm>
          <a:prstGeom prst="roundRect">
            <a:avLst>
              <a:gd name="adj" fmla="val 7075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28" name="Shape 26"/>
          <p:cNvSpPr/>
          <p:nvPr/>
        </p:nvSpPr>
        <p:spPr>
          <a:xfrm>
            <a:off x="793790" y="5849422"/>
            <a:ext cx="6448782" cy="91440"/>
          </a:xfrm>
          <a:prstGeom prst="roundRect">
            <a:avLst>
              <a:gd name="adj" fmla="val 8334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29" name="Shape 27"/>
          <p:cNvSpPr/>
          <p:nvPr/>
        </p:nvSpPr>
        <p:spPr>
          <a:xfrm>
            <a:off x="3745944" y="5600105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30" name="Text 28"/>
          <p:cNvSpPr/>
          <p:nvPr/>
        </p:nvSpPr>
        <p:spPr>
          <a:xfrm>
            <a:off x="3909298" y="5736193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98101" y="632591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Dashboard Analytics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998101" y="6696432"/>
            <a:ext cx="604016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KPI cards showing total customers, active subscribers, outstanding amounts, and paid collections with bar and pie charts.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87709" y="5872282"/>
            <a:ext cx="6448901" cy="1550908"/>
          </a:xfrm>
          <a:prstGeom prst="roundRect">
            <a:avLst>
              <a:gd name="adj" fmla="val 7075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34" name="Shape 32"/>
          <p:cNvSpPr/>
          <p:nvPr/>
        </p:nvSpPr>
        <p:spPr>
          <a:xfrm>
            <a:off x="7387709" y="5849422"/>
            <a:ext cx="6448901" cy="91440"/>
          </a:xfrm>
          <a:prstGeom prst="roundRect">
            <a:avLst>
              <a:gd name="adj" fmla="val 8334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35" name="Shape 33"/>
          <p:cNvSpPr/>
          <p:nvPr/>
        </p:nvSpPr>
        <p:spPr>
          <a:xfrm>
            <a:off x="10339983" y="5600105"/>
            <a:ext cx="544354" cy="544354"/>
          </a:xfrm>
          <a:prstGeom prst="roundRect">
            <a:avLst>
              <a:gd name="adj" fmla="val 16797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36" name="Text 34"/>
          <p:cNvSpPr/>
          <p:nvPr/>
        </p:nvSpPr>
        <p:spPr>
          <a:xfrm>
            <a:off x="10503337" y="5736193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592020" y="6325910"/>
            <a:ext cx="256627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Backup &amp; Import/Export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7592020" y="6696432"/>
            <a:ext cx="604027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Google Drive backup (manual or automatic) plus CSV import/export for bulk data migration and recovery.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AF6955-B68B-A6A5-F973-52DA28AA6EE7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6C63EF-95F6-8366-3A67-A3C806B6AB2D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9642"/>
            <a:ext cx="79053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Existing System — Limitations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120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Traditional methods used by cable operators create operational challenges and business risks: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56917"/>
            <a:ext cx="29079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Paper-Based Register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38061"/>
            <a:ext cx="3978116" cy="3662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loss risk from fire or water damage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STB or plan duration tracking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page-by-page search required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automatic outstanding calculation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Cannot access remotely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Error-prone manual recording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2956917"/>
            <a:ext cx="36180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Spreadsheet (Excel/Sheets)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3538061"/>
            <a:ext cx="3978116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Complex manual formula setup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Poor mobile experience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authentication or access control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file transfer required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Requires dedicated hardware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872067" y="2956917"/>
            <a:ext cx="28455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Proprietary Software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2067" y="3538061"/>
            <a:ext cx="3978116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 cost — up to ₹50,000 per year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 mobile-optimized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Poor cloud integration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Rigid system, hard to customize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519A2B-1224-726F-0840-15B07AD6A46C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27051-9073-44E7-DE24-6BB69F5EFF78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5112"/>
            <a:ext cx="735996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Proposed System — CablePro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977866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CablePro addresses all limitations of existing systems with modern, purpose-built features: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544247"/>
            <a:ext cx="13042821" cy="4790123"/>
          </a:xfrm>
          <a:prstGeom prst="roundRect">
            <a:avLst>
              <a:gd name="adj" fmla="val 18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5" name="Shape 3"/>
          <p:cNvSpPr/>
          <p:nvPr/>
        </p:nvSpPr>
        <p:spPr>
          <a:xfrm>
            <a:off x="801410" y="2551867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6" name="Text 4"/>
          <p:cNvSpPr/>
          <p:nvPr/>
        </p:nvSpPr>
        <p:spPr>
          <a:xfrm>
            <a:off x="1016913" y="2682240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28949" y="2682240"/>
            <a:ext cx="4121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Existing System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488567" y="2682240"/>
            <a:ext cx="4125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CablePro ✓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1410" y="3148727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0" name="Text 8"/>
          <p:cNvSpPr/>
          <p:nvPr/>
        </p:nvSpPr>
        <p:spPr>
          <a:xfrm>
            <a:off x="1016913" y="3279100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Access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928949" y="3279100"/>
            <a:ext cx="4121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Single location/device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488567" y="3279100"/>
            <a:ext cx="4125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73B4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Any device, anywhere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1410" y="3745587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4" name="Text 12"/>
          <p:cNvSpPr/>
          <p:nvPr/>
        </p:nvSpPr>
        <p:spPr>
          <a:xfrm>
            <a:off x="1016913" y="3875961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Mobile Support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928949" y="3875961"/>
            <a:ext cx="4121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None / Poor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488567" y="3875961"/>
            <a:ext cx="4125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73B4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Fully mobile-optimized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01410" y="4342448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18" name="Text 16"/>
          <p:cNvSpPr/>
          <p:nvPr/>
        </p:nvSpPr>
        <p:spPr>
          <a:xfrm>
            <a:off x="1016913" y="4472821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Outstanding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28949" y="4472821"/>
            <a:ext cx="4121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calculation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88567" y="4472821"/>
            <a:ext cx="4125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73B4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Auto-calculated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01410" y="4939308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22" name="Text 20"/>
          <p:cNvSpPr/>
          <p:nvPr/>
        </p:nvSpPr>
        <p:spPr>
          <a:xfrm>
            <a:off x="1016913" y="5069681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Search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928949" y="5069681"/>
            <a:ext cx="4121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scanning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488567" y="5069681"/>
            <a:ext cx="4125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73B4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Instant — name/phone/STB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01410" y="5536168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26" name="Text 24"/>
          <p:cNvSpPr/>
          <p:nvPr/>
        </p:nvSpPr>
        <p:spPr>
          <a:xfrm>
            <a:off x="1016913" y="5666542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Reporting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928949" y="5666542"/>
            <a:ext cx="4121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summarization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488567" y="5666542"/>
            <a:ext cx="4125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73B4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+ PDF/CSV export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801410" y="6133028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30" name="Text 28"/>
          <p:cNvSpPr/>
          <p:nvPr/>
        </p:nvSpPr>
        <p:spPr>
          <a:xfrm>
            <a:off x="1016913" y="6263402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Backup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4928949" y="6263402"/>
            <a:ext cx="4121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None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488567" y="6263402"/>
            <a:ext cx="4125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73B4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Google Drive cloud backup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01410" y="6729889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S"/>
          </a:p>
        </p:txBody>
      </p:sp>
      <p:sp>
        <p:nvSpPr>
          <p:cNvPr id="34" name="Text 32"/>
          <p:cNvSpPr/>
          <p:nvPr/>
        </p:nvSpPr>
        <p:spPr>
          <a:xfrm>
            <a:off x="1016913" y="6860262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Cost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4928949" y="6860262"/>
            <a:ext cx="4121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₹0 – ₹50,000/yr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488567" y="6860262"/>
            <a:ext cx="4125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73B4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Few thousand rupees per year</a:t>
            </a:r>
            <a:endParaRPr lang="en-US" sz="16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9218C7-3E5D-6F5A-F197-0A3ABF326B8E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0536E5-3095-E873-6C87-9DBE0D9DAD9A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794" y="777954"/>
            <a:ext cx="672704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Screenshots — Core Screens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793790" y="619625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Login Page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93790" y="6595705"/>
            <a:ext cx="421100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Gradient background with email/password fields, Remember Me option, Forgot Password link, and Google Sign-In button.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5209580" y="619637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Dashboard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5209580" y="6595824"/>
            <a:ext cx="4211122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KPI cards showing Total, Active, Outstanding, and Paid customers with weekly bar chart and payment methods donut chart.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9625489" y="619625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Customers Page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9625489" y="6595705"/>
            <a:ext cx="421100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Search by name, phone, or STB number. Full customer list with status badges and action buttons.</a:t>
            </a:r>
            <a:endParaRPr lang="en-US" sz="15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3A6DF-9BF9-C83B-B474-867B80E3F8A2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E61798-8305-DEC4-FF71-650515366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94" y="2685782"/>
            <a:ext cx="4643037" cy="2550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36FDA96-C098-0A22-39E1-5F9454E60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973" y="2685782"/>
            <a:ext cx="4415001" cy="2550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3AB5B7F-65FF-9C6A-0A85-E03223C68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5489" y="2703307"/>
            <a:ext cx="4383666" cy="2543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EDD23AE-190A-9729-97D3-BEC5463EAB5A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15910"/>
            <a:ext cx="7302698" cy="55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Screenshots — Payments &amp; Reports</a:t>
            </a:r>
            <a:endParaRPr lang="en-US" sz="3500" dirty="0"/>
          </a:p>
        </p:txBody>
      </p:sp>
      <p:sp>
        <p:nvSpPr>
          <p:cNvPr id="5" name="Text 1"/>
          <p:cNvSpPr/>
          <p:nvPr/>
        </p:nvSpPr>
        <p:spPr>
          <a:xfrm>
            <a:off x="783669" y="6735961"/>
            <a:ext cx="2239089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Payments Page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83669" y="7100649"/>
            <a:ext cx="6443067" cy="512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Today/Week/Month/Total collection cards. Searchable transactions by customer or payment method (Cash/UPI), status badges, and action buttons.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403544" y="6735961"/>
            <a:ext cx="2239089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Reports Page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7403544" y="7100649"/>
            <a:ext cx="6443186" cy="512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Month or custom date range filter, KPI cards, Collection Trend chart, Payment Methods breakdown, Daily Breakdown table — exportable to CSV and PDF.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F1C0BF-6631-A6E1-314E-031C55529BE7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97E199-9697-0DF9-21B8-F193EF403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69" y="2738973"/>
            <a:ext cx="5844347" cy="32603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755B78-F2AC-B82A-7080-CB6E4470B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544" y="2738973"/>
            <a:ext cx="5492071" cy="3283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495F6C4-E1AF-D046-4848-A4CE68B22814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9620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260163"/>
            <a:ext cx="686228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CablePro Successfully Addresses Real Operational Challenges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93790" y="2724507"/>
            <a:ext cx="6465808" cy="1666637"/>
          </a:xfrm>
          <a:prstGeom prst="roundRect">
            <a:avLst>
              <a:gd name="adj" fmla="val 400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5" name="Shape 3"/>
          <p:cNvSpPr/>
          <p:nvPr/>
        </p:nvSpPr>
        <p:spPr>
          <a:xfrm>
            <a:off x="960120" y="2890838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089" y="3021806"/>
            <a:ext cx="214313" cy="21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8173"/>
            <a:ext cx="226992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Subscriber Management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3792855"/>
            <a:ext cx="613314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 lifecycle management with STB tracking and automatic outstanding balance calculation.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70683" y="2724507"/>
            <a:ext cx="6465927" cy="1666637"/>
          </a:xfrm>
          <a:prstGeom prst="roundRect">
            <a:avLst>
              <a:gd name="adj" fmla="val 400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0" name="Shape 7"/>
          <p:cNvSpPr/>
          <p:nvPr/>
        </p:nvSpPr>
        <p:spPr>
          <a:xfrm>
            <a:off x="7537013" y="2890838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7982" y="3021806"/>
            <a:ext cx="214313" cy="21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37013" y="347817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Smart Payments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37013" y="3792855"/>
            <a:ext cx="613326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Duplicate-proof payment module with multi-month billing cycle logic and real-time tracking.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3790" y="4502229"/>
            <a:ext cx="6465808" cy="1666637"/>
          </a:xfrm>
          <a:prstGeom prst="roundRect">
            <a:avLst>
              <a:gd name="adj" fmla="val 400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5" name="Shape 11"/>
          <p:cNvSpPr/>
          <p:nvPr/>
        </p:nvSpPr>
        <p:spPr>
          <a:xfrm>
            <a:off x="960120" y="4668560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1089" y="4799528"/>
            <a:ext cx="214313" cy="21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525589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Mobile-First PWA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60120" y="5570577"/>
            <a:ext cx="613314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Works offline with localStorage — accessible from any device, anywhere, even without internet.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70683" y="4502229"/>
            <a:ext cx="6465927" cy="1666637"/>
          </a:xfrm>
          <a:prstGeom prst="roundRect">
            <a:avLst>
              <a:gd name="adj" fmla="val 400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20" name="Shape 15"/>
          <p:cNvSpPr/>
          <p:nvPr/>
        </p:nvSpPr>
        <p:spPr>
          <a:xfrm>
            <a:off x="7537013" y="4668560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A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67982" y="4799528"/>
            <a:ext cx="214313" cy="21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37013" y="525589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Secure &amp; Reliable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537013" y="5570577"/>
            <a:ext cx="613326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Firebase Authentication and Google Drive backup — zero hardware cost, enterprise-grade security.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93790" y="62938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Built with:</a:t>
            </a: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Next.js 14 · React 18 · TypeScript · Firebase · Tailwind CSS v4 · Vercel</a:t>
            </a:r>
            <a:endParaRPr lang="en-US" sz="12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07EBF7-36D4-97E4-9983-1E824016CCCD}"/>
              </a:ext>
            </a:extLst>
          </p:cNvPr>
          <p:cNvSpPr/>
          <p:nvPr/>
        </p:nvSpPr>
        <p:spPr>
          <a:xfrm>
            <a:off x="12663131" y="7604760"/>
            <a:ext cx="1889760" cy="487680"/>
          </a:xfrm>
          <a:prstGeom prst="rect">
            <a:avLst/>
          </a:prstGeom>
          <a:solidFill>
            <a:srgbClr val="EEEE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9CE041-9C8B-C514-6C79-C6EA416FDC36}"/>
              </a:ext>
            </a:extLst>
          </p:cNvPr>
          <p:cNvSpPr/>
          <p:nvPr/>
        </p:nvSpPr>
        <p:spPr>
          <a:xfrm>
            <a:off x="234636" y="205740"/>
            <a:ext cx="14161127" cy="7818120"/>
          </a:xfrm>
          <a:prstGeom prst="rect">
            <a:avLst/>
          </a:prstGeom>
          <a:noFill/>
          <a:ln w="38100">
            <a:solidFill>
              <a:srgbClr val="23197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940</Words>
  <Application>Microsoft Office PowerPoint</Application>
  <PresentationFormat>Custom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Outfit Light</vt:lpstr>
      <vt:lpstr>Outfit Extra Bold</vt:lpstr>
      <vt:lpstr>Arimo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S0257467</cp:lastModifiedBy>
  <cp:revision>5</cp:revision>
  <dcterms:created xsi:type="dcterms:W3CDTF">2026-03-15T13:55:47Z</dcterms:created>
  <dcterms:modified xsi:type="dcterms:W3CDTF">2026-03-15T17:38:31Z</dcterms:modified>
</cp:coreProperties>
</file>